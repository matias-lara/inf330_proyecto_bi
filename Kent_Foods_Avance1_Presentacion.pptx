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E7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59775" y="-1737360"/>
            <a:ext cx="5212080" cy="5212080"/>
          </a:xfrm>
          <a:prstGeom prst="ellipse">
            <a:avLst/>
          </a:prstGeom>
          <a:solidFill>
            <a:srgbClr val="BFE4F2">
              <a:alpha val="5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-822960"/>
            <a:ext cx="3566160" cy="3566160"/>
          </a:xfrm>
          <a:prstGeom prst="ellipse">
            <a:avLst/>
          </a:prstGeom>
          <a:solidFill>
            <a:srgbClr val="1D6F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00055" y="137160"/>
            <a:ext cx="1783080" cy="1783080"/>
          </a:xfrm>
          <a:prstGeom prst="ellipse">
            <a:avLst/>
          </a:prstGeom>
          <a:solidFill>
            <a:srgbClr val="2FA8D8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59975" y="-502920"/>
            <a:ext cx="3246120" cy="3246120"/>
          </a:xfrm>
          <a:prstGeom prst="ellipse">
            <a:avLst/>
          </a:prstGeom>
          <a:ln w="25400">
            <a:solidFill>
              <a:srgbClr val="2FA8D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05695" y="4709160"/>
            <a:ext cx="2834640" cy="2834640"/>
          </a:xfrm>
          <a:prstGeom prst="ellipse">
            <a:avLst/>
          </a:prstGeom>
          <a:solidFill>
            <a:srgbClr val="BFE4F2">
              <a:alpha val="5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74375" y="5577840"/>
            <a:ext cx="1463040" cy="1463040"/>
          </a:xfrm>
          <a:prstGeom prst="ellipse">
            <a:avLst/>
          </a:prstGeom>
          <a:solidFill>
            <a:srgbClr val="2FA8D8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-1188720" y="5257800"/>
            <a:ext cx="2286000" cy="2286000"/>
          </a:xfrm>
          <a:prstGeom prst="ellipse">
            <a:avLst/>
          </a:prstGeom>
          <a:solidFill>
            <a:srgbClr val="BFE4F2">
              <a:alpha val="5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-502920" y="5943600"/>
            <a:ext cx="1188720" cy="1188720"/>
          </a:xfrm>
          <a:prstGeom prst="ellipse">
            <a:avLst/>
          </a:prstGeom>
          <a:solidFill>
            <a:srgbClr val="2FA8D8">
              <a:alpha val="6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2801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INF330 — Bases Tecnológicas para la Inteligencia de Negocios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Dimensional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Kent Foods · Avance 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(Grupo 7): Matías Fernández · Renato Martínez · Iván Bustos · Matías Lara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93192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Miércoles 2 de septiembre de 2026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0F2A43"/>
          </a:solidFill>
          <a:ln/>
          <a:effectLst>
            <a:outerShdw sx="100000" sy="100000" kx="0" ky="0" algn="bl" rotWithShape="0" blurRad="63500" dist="25400" dir="5400000">
              <a:srgbClr val="0F2A43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4709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Dimensiones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633472" y="470916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1D6F93"/>
          </a:solidFill>
          <a:ln/>
          <a:effectLst>
            <a:outerShdw sx="100000" sy="100000" kx="0" ky="0" algn="bl" rotWithShape="0" blurRad="63500" dist="25400" dir="5400000">
              <a:srgbClr val="0F2A43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33472" y="4709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830 Órdenes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718304" y="4709160"/>
            <a:ext cx="2834640" cy="502920"/>
          </a:xfrm>
          <a:prstGeom prst="roundRect">
            <a:avLst>
              <a:gd name="adj" fmla="val 50000"/>
            </a:avLst>
          </a:prstGeom>
          <a:solidFill>
            <a:srgbClr val="2FA8D8"/>
          </a:solidFill>
          <a:ln/>
          <a:effectLst>
            <a:outerShdw sx="100000" sy="100000" kx="0" ky="0" algn="bl" rotWithShape="0" blurRad="63500" dist="25400" dir="5400000">
              <a:srgbClr val="0F2A43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18304" y="47091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$1.265.793 verificados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174175" y="502920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1D6F93"/>
            </a:solidFill>
            <a:prstDash val="dash"/>
          </a:ln>
          <a:effectLst>
            <a:outerShdw sx="100000" sy="100000" kx="0" ky="0" algn="bl" rotWithShape="0" blurRad="76200" dist="25400" dir="5400000">
              <a:srgbClr val="0F2A43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357055" y="502920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VA: escudo/logo oficial UTFSM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E7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-1371600"/>
            <a:ext cx="3291840" cy="3291840"/>
          </a:xfrm>
          <a:prstGeom prst="ellipse">
            <a:avLst/>
          </a:prstGeom>
          <a:solidFill>
            <a:srgbClr val="BFE4F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42855" y="-685800"/>
            <a:ext cx="1874520" cy="1874520"/>
          </a:xfrm>
          <a:prstGeom prst="ellipse">
            <a:avLst/>
          </a:prstGeom>
          <a:solidFill>
            <a:srgbClr val="2FA8D8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20040"/>
            <a:ext cx="548640" cy="548640"/>
          </a:xfrm>
          <a:prstGeom prst="ellipse">
            <a:avLst/>
          </a:prstGeom>
          <a:solidFill>
            <a:srgbClr val="0F2A43"/>
          </a:solidFill>
          <a:ln/>
          <a:effectLst>
            <a:outerShdw sx="100000" sy="100000" kx="0" ky="0" algn="bl" rotWithShape="0" blurRad="76200" dist="25400" dir="5400000">
              <a:srgbClr val="0F2A43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274320"/>
            <a:ext cx="103171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609783" y="91440"/>
            <a:ext cx="1152144" cy="1152144"/>
          </a:xfrm>
          <a:prstGeom prst="ellipse">
            <a:avLst/>
          </a:prstGeom>
          <a:solidFill>
            <a:srgbClr val="2FA8D8">
              <a:alpha val="55000"/>
            </a:srgbClr>
          </a:solidFill>
          <a:ln/>
        </p:spPr>
      </p:sp>
      <p:pic>
        <p:nvPicPr>
          <p:cNvPr id="8" name="Image 0" descr="/tmp/claude-1000/-home-mati-proyectos-INF330-proyecto-BI/de1d8a94-a355-4200-8f20-8d02d543867f/scratchpad/pptxbuild/icons/list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256032"/>
            <a:ext cx="822960" cy="8229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472184"/>
            <a:ext cx="420624" cy="420624"/>
          </a:xfrm>
          <a:prstGeom prst="ellipse">
            <a:avLst/>
          </a:prstGeom>
          <a:solidFill>
            <a:srgbClr val="0F2A43"/>
          </a:solidFill>
          <a:ln/>
          <a:effectLst>
            <a:outerShdw sx="100000" sy="100000" kx="0" ky="0" algn="bl" rotWithShape="0" blurRad="50800" dist="25400" dir="5400000">
              <a:srgbClr val="0F2A43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" y="1472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15568" y="1417320"/>
            <a:ext cx="475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Objetivos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130552"/>
            <a:ext cx="420624" cy="420624"/>
          </a:xfrm>
          <a:prstGeom prst="ellipse">
            <a:avLst/>
          </a:prstGeom>
          <a:solidFill>
            <a:srgbClr val="1D6F93"/>
          </a:solidFill>
          <a:ln/>
          <a:effectLst>
            <a:outerShdw sx="100000" sy="100000" kx="0" ky="0" algn="bl" rotWithShape="0" blurRad="50800" dist="25400" dir="5400000">
              <a:srgbClr val="0F2A43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48640" y="2130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15568" y="2075688"/>
            <a:ext cx="475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Negocio y Preguntas Clave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2788920"/>
            <a:ext cx="420624" cy="420624"/>
          </a:xfrm>
          <a:prstGeom prst="ellipse">
            <a:avLst/>
          </a:prstGeom>
          <a:solidFill>
            <a:srgbClr val="2FA8D8"/>
          </a:solidFill>
          <a:ln/>
          <a:effectLst>
            <a:outerShdw sx="100000" sy="100000" kx="0" ky="0" algn="bl" rotWithShape="0" blurRad="50800" dist="25400" dir="5400000">
              <a:srgbClr val="0F2A43">
                <a:alpha val="1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48640" y="27889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15568" y="2734056"/>
            <a:ext cx="475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Desempeño (KPIs)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3447288"/>
            <a:ext cx="420624" cy="420624"/>
          </a:xfrm>
          <a:prstGeom prst="ellipse">
            <a:avLst/>
          </a:prstGeom>
          <a:solidFill>
            <a:srgbClr val="0F2A43"/>
          </a:solidFill>
          <a:ln/>
          <a:effectLst>
            <a:outerShdw sx="100000" sy="100000" kx="0" ky="0" algn="bl" rotWithShape="0" blurRad="50800" dist="25400" dir="5400000">
              <a:srgbClr val="0F2A43">
                <a:alpha val="14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48640" y="34472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15568" y="3392424"/>
            <a:ext cx="475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Calidad y Utilidad de los Datos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4105656"/>
            <a:ext cx="420624" cy="420624"/>
          </a:xfrm>
          <a:prstGeom prst="ellipse">
            <a:avLst/>
          </a:prstGeom>
          <a:solidFill>
            <a:srgbClr val="1D6F93"/>
          </a:solidFill>
          <a:ln/>
          <a:effectLst>
            <a:outerShdw sx="100000" sy="100000" kx="0" ky="0" algn="bl" rotWithShape="0" blurRad="50800" dist="25400" dir="5400000">
              <a:srgbClr val="0F2A43">
                <a:alpha val="14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48640" y="41056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115568" y="4050792"/>
            <a:ext cx="475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 y Jerarquías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324448" y="1472184"/>
            <a:ext cx="420624" cy="420624"/>
          </a:xfrm>
          <a:prstGeom prst="ellipse">
            <a:avLst/>
          </a:prstGeom>
          <a:solidFill>
            <a:srgbClr val="2FA8D8"/>
          </a:solidFill>
          <a:ln/>
          <a:effectLst>
            <a:outerShdw sx="100000" sy="100000" kx="0" ky="0" algn="bl" rotWithShape="0" blurRad="50800" dist="25400" dir="5400000">
              <a:srgbClr val="0F2A43">
                <a:alpha val="14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324448" y="1472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891376" y="1417320"/>
            <a:ext cx="475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 del Modelo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324448" y="2130552"/>
            <a:ext cx="420624" cy="420624"/>
          </a:xfrm>
          <a:prstGeom prst="ellipse">
            <a:avLst/>
          </a:prstGeom>
          <a:solidFill>
            <a:srgbClr val="0F2A43"/>
          </a:solidFill>
          <a:ln/>
          <a:effectLst>
            <a:outerShdw sx="100000" sy="100000" kx="0" ky="0" algn="bl" rotWithShape="0" blurRad="50800" dist="25400" dir="5400000">
              <a:srgbClr val="0F2A43">
                <a:alpha val="14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324448" y="2130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891376" y="2075688"/>
            <a:ext cx="475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Hechos y Medidas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324448" y="2788920"/>
            <a:ext cx="420624" cy="420624"/>
          </a:xfrm>
          <a:prstGeom prst="ellipse">
            <a:avLst/>
          </a:prstGeom>
          <a:solidFill>
            <a:srgbClr val="1D6F93"/>
          </a:solidFill>
          <a:ln/>
          <a:effectLst>
            <a:outerShdw sx="100000" sy="100000" kx="0" ky="0" algn="bl" rotWithShape="0" blurRad="50800" dist="25400" dir="5400000">
              <a:srgbClr val="0F2A43">
                <a:alpha val="14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324448" y="27889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891376" y="2734056"/>
            <a:ext cx="475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Dimensional Físico (SQL Server)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6324448" y="3447288"/>
            <a:ext cx="420624" cy="420624"/>
          </a:xfrm>
          <a:prstGeom prst="ellipse">
            <a:avLst/>
          </a:prstGeom>
          <a:solidFill>
            <a:srgbClr val="2FA8D8"/>
          </a:solidFill>
          <a:ln/>
          <a:effectLst>
            <a:outerShdw sx="100000" sy="100000" kx="0" ky="0" algn="bl" rotWithShape="0" blurRad="50800" dist="25400" dir="5400000">
              <a:srgbClr val="0F2A43">
                <a:alpha val="14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324448" y="34472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6891376" y="3392424"/>
            <a:ext cx="475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Próximos Pasos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548640" y="6515100"/>
            <a:ext cx="82296" cy="82296"/>
          </a:xfrm>
          <a:prstGeom prst="ellipse">
            <a:avLst/>
          </a:prstGeom>
          <a:solidFill>
            <a:srgbClr val="2FA8D8"/>
          </a:solidFill>
          <a:ln/>
        </p:spPr>
      </p:sp>
      <p:sp>
        <p:nvSpPr>
          <p:cNvPr id="37" name="Text 34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 Foods · Avance 1 — Modelo Dimensional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E7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-1371600"/>
            <a:ext cx="3291840" cy="3291840"/>
          </a:xfrm>
          <a:prstGeom prst="ellipse">
            <a:avLst/>
          </a:prstGeom>
          <a:solidFill>
            <a:srgbClr val="BFE4F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42855" y="-685800"/>
            <a:ext cx="1874520" cy="1874520"/>
          </a:xfrm>
          <a:prstGeom prst="ellipse">
            <a:avLst/>
          </a:prstGeom>
          <a:solidFill>
            <a:srgbClr val="2FA8D8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20040"/>
            <a:ext cx="548640" cy="548640"/>
          </a:xfrm>
          <a:prstGeom prst="ellipse">
            <a:avLst/>
          </a:prstGeom>
          <a:solidFill>
            <a:srgbClr val="0F2A43"/>
          </a:solidFill>
          <a:ln/>
          <a:effectLst>
            <a:outerShdw sx="100000" sy="100000" kx="0" ky="0" algn="bl" rotWithShape="0" blurRad="76200" dist="25400" dir="5400000">
              <a:srgbClr val="0F2A43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274320"/>
            <a:ext cx="103171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Objetivos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0F2A43"/>
          </a:solidFill>
          <a:ln/>
          <a:effectLst>
            <a:outerShdw sx="100000" sy="100000" kx="0" ky="0" algn="bl" rotWithShape="0" blurRad="50800" dist="25400" dir="5400000">
              <a:srgbClr val="0F2A43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61288" y="1499616"/>
            <a:ext cx="63367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 Foods: empresa de venta de alimentos por envío, en rápida expansión.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384048" cy="384048"/>
          </a:xfrm>
          <a:prstGeom prst="ellipse">
            <a:avLst/>
          </a:prstGeom>
          <a:solidFill>
            <a:srgbClr val="1D6F93"/>
          </a:solidFill>
          <a:ln/>
          <a:effectLst>
            <a:outerShdw sx="100000" sy="100000" kx="0" ky="0" algn="bl" rotWithShape="0" blurRad="50800" dist="25400" dir="5400000">
              <a:srgbClr val="0F2A43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61288" y="2551176"/>
            <a:ext cx="63367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principal: desarrollar una propuesta de Inteligencia de Negocios para apoyar la toma de decisiones estratégicas de la organización.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84048" cy="384048"/>
          </a:xfrm>
          <a:prstGeom prst="ellipse">
            <a:avLst/>
          </a:prstGeom>
          <a:solidFill>
            <a:srgbClr val="2FA8D8"/>
          </a:solidFill>
          <a:ln/>
          <a:effectLst>
            <a:outerShdw sx="100000" sy="100000" kx="0" ky="0" algn="bl" rotWithShape="0" blurRad="50800" dist="25400" dir="5400000">
              <a:srgbClr val="0F2A43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61288" y="3739896"/>
            <a:ext cx="63367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actual (Avance 1): diseño del modelo dimensional (esquema estrella) y validación de la calidad de los datos fuente.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02752" y="1947672"/>
            <a:ext cx="2688336" cy="2688336"/>
          </a:xfrm>
          <a:prstGeom prst="ellipse">
            <a:avLst/>
          </a:prstGeom>
          <a:solidFill>
            <a:srgbClr val="2FA8D8">
              <a:alpha val="55000"/>
            </a:srgbClr>
          </a:solidFill>
          <a:ln/>
        </p:spPr>
      </p:sp>
      <p:pic>
        <p:nvPicPr>
          <p:cNvPr id="17" name="Image 0" descr="/tmp/claude-1000/-home-mati-proyectos-INF330-proyecto-BI/de1d8a94-a355-4200-8f20-8d02d543867f/scratchpad/pptxbuild/icons/trend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2331720"/>
            <a:ext cx="1920240" cy="192024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48640" y="6515100"/>
            <a:ext cx="82296" cy="82296"/>
          </a:xfrm>
          <a:prstGeom prst="ellipse">
            <a:avLst/>
          </a:prstGeom>
          <a:solidFill>
            <a:srgbClr val="2FA8D8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 Foods · Avance 1 — Modelo Dimensional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E7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-1371600"/>
            <a:ext cx="3291840" cy="3291840"/>
          </a:xfrm>
          <a:prstGeom prst="ellipse">
            <a:avLst/>
          </a:prstGeom>
          <a:solidFill>
            <a:srgbClr val="BFE4F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42855" y="-685800"/>
            <a:ext cx="1874520" cy="1874520"/>
          </a:xfrm>
          <a:prstGeom prst="ellipse">
            <a:avLst/>
          </a:prstGeom>
          <a:solidFill>
            <a:srgbClr val="2FA8D8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20040"/>
            <a:ext cx="548640" cy="548640"/>
          </a:xfrm>
          <a:prstGeom prst="ellipse">
            <a:avLst/>
          </a:prstGeom>
          <a:solidFill>
            <a:srgbClr val="0F2A43"/>
          </a:solidFill>
          <a:ln/>
          <a:effectLst>
            <a:outerShdw sx="100000" sy="100000" kx="0" ky="0" algn="bl" rotWithShape="0" blurRad="76200" dist="25400" dir="5400000">
              <a:srgbClr val="0F2A43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274320"/>
            <a:ext cx="103171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Negocio y Preguntas Clave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seleccionado: </a:t>
            </a:r>
            <a:pPr algn="l"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Ventas y Envíos (desde la emisión de la orden hasta la entrega del producto).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706728" y="1554480"/>
            <a:ext cx="2377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BF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57780" y="1538021"/>
            <a:ext cx="1075334" cy="1075334"/>
          </a:xfrm>
          <a:prstGeom prst="ellipse">
            <a:avLst/>
          </a:prstGeom>
          <a:solidFill>
            <a:srgbClr val="0F2A43">
              <a:alpha val="75000"/>
            </a:srgbClr>
          </a:solidFill>
          <a:ln/>
        </p:spPr>
      </p:sp>
      <p:pic>
        <p:nvPicPr>
          <p:cNvPr id="10" name="Image 0" descr="/tmp/claude-1000/-home-mati-proyectos-INF330-proyecto-BI/de1d8a94-a355-4200-8f20-8d02d543867f/scratchpad/pptxbuild/icons/invoiceOr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1400" y="1691640"/>
            <a:ext cx="768096" cy="7680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06728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emitida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084168" y="2217420"/>
            <a:ext cx="822960" cy="0"/>
          </a:xfrm>
          <a:prstGeom prst="line">
            <a:avLst/>
          </a:prstGeom>
          <a:noFill/>
          <a:ln w="31750">
            <a:solidFill>
              <a:srgbClr val="1D6F93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907128" y="1554480"/>
            <a:ext cx="2377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BF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3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58180" y="1538021"/>
            <a:ext cx="1075334" cy="1075334"/>
          </a:xfrm>
          <a:prstGeom prst="ellipse">
            <a:avLst/>
          </a:prstGeom>
          <a:solidFill>
            <a:srgbClr val="1D6F93">
              <a:alpha val="70000"/>
            </a:srgbClr>
          </a:solidFill>
          <a:ln/>
        </p:spPr>
      </p:sp>
      <p:pic>
        <p:nvPicPr>
          <p:cNvPr id="15" name="Image 1" descr="/tmp/claude-1000/-home-mati-proyectos-INF330-proyecto-BI/de1d8a94-a355-4200-8f20-8d02d543867f/scratchpad/pptxbuild/icons/truckS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800" y="1691640"/>
            <a:ext cx="768096" cy="7680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07128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7284568" y="2217420"/>
            <a:ext cx="822960" cy="0"/>
          </a:xfrm>
          <a:prstGeom prst="line">
            <a:avLst/>
          </a:prstGeom>
          <a:noFill/>
          <a:ln w="31750">
            <a:solidFill>
              <a:srgbClr val="2FA8D8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8107528" y="1554480"/>
            <a:ext cx="2377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BF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3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758580" y="1538021"/>
            <a:ext cx="1075334" cy="1075334"/>
          </a:xfrm>
          <a:prstGeom prst="ellipse">
            <a:avLst/>
          </a:prstGeom>
          <a:solidFill>
            <a:srgbClr val="2FA8D8">
              <a:alpha val="55000"/>
            </a:srgbClr>
          </a:solidFill>
          <a:ln/>
        </p:spPr>
      </p:sp>
      <p:pic>
        <p:nvPicPr>
          <p:cNvPr id="20" name="Image 2" descr="/tmp/claude-1000/-home-mati-proyectos-INF330-proyecto-BI/de1d8a94-a355-4200-8f20-8d02d543867f/scratchpad/pptxbuild/icons/boxDelive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200" y="1691640"/>
            <a:ext cx="768096" cy="7680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07528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48640" y="3246120"/>
            <a:ext cx="329184" cy="329184"/>
          </a:xfrm>
          <a:prstGeom prst="ellipse">
            <a:avLst/>
          </a:prstGeom>
          <a:solidFill>
            <a:srgbClr val="0F2A43"/>
          </a:solidFill>
          <a:ln/>
          <a:effectLst>
            <a:outerShdw sx="100000" sy="100000" kx="0" ky="0" algn="bl" rotWithShape="0" blurRad="50800" dist="25400" dir="5400000">
              <a:srgbClr val="0F2A43">
                <a:alpha val="14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548640" y="32461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106424" y="3191256"/>
            <a:ext cx="10536631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transportistas presentan mejor desempeño en el tiempo de envío?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548640" y="3813048"/>
            <a:ext cx="329184" cy="329184"/>
          </a:xfrm>
          <a:prstGeom prst="ellipse">
            <a:avLst/>
          </a:prstGeom>
          <a:solidFill>
            <a:srgbClr val="1D6F93"/>
          </a:solidFill>
          <a:ln/>
          <a:effectLst>
            <a:outerShdw sx="100000" sy="100000" kx="0" ky="0" algn="bl" rotWithShape="0" blurRad="50800" dist="25400" dir="5400000">
              <a:srgbClr val="0F2A43">
                <a:alpha val="14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548640" y="3813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1106424" y="3758184"/>
            <a:ext cx="10536631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región(es) genera(n) más ingreso por venta, y cuál es su variación respecto al período anterior?</a:t>
            </a:r>
            <a:endParaRPr lang="en-US" sz="1350" dirty="0"/>
          </a:p>
        </p:txBody>
      </p:sp>
      <p:sp>
        <p:nvSpPr>
          <p:cNvPr id="28" name="Shape 23"/>
          <p:cNvSpPr/>
          <p:nvPr/>
        </p:nvSpPr>
        <p:spPr>
          <a:xfrm>
            <a:off x="548640" y="4379976"/>
            <a:ext cx="329184" cy="329184"/>
          </a:xfrm>
          <a:prstGeom prst="ellipse">
            <a:avLst/>
          </a:prstGeom>
          <a:solidFill>
            <a:srgbClr val="2FA8D8"/>
          </a:solidFill>
          <a:ln/>
          <a:effectLst>
            <a:outerShdw sx="100000" sy="100000" kx="0" ky="0" algn="bl" rotWithShape="0" blurRad="50800" dist="25400" dir="5400000">
              <a:srgbClr val="0F2A43">
                <a:alpha val="14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548640" y="43799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1106424" y="4325112"/>
            <a:ext cx="10536631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proveedores generan más ingreso, considerando precio unitario y descuentos?</a:t>
            </a:r>
            <a:endParaRPr lang="en-US" sz="1350" dirty="0"/>
          </a:p>
        </p:txBody>
      </p:sp>
      <p:sp>
        <p:nvSpPr>
          <p:cNvPr id="31" name="Shape 26"/>
          <p:cNvSpPr/>
          <p:nvPr/>
        </p:nvSpPr>
        <p:spPr>
          <a:xfrm>
            <a:off x="548640" y="4946904"/>
            <a:ext cx="329184" cy="329184"/>
          </a:xfrm>
          <a:prstGeom prst="ellipse">
            <a:avLst/>
          </a:prstGeom>
          <a:solidFill>
            <a:srgbClr val="0F2A43"/>
          </a:solidFill>
          <a:ln/>
          <a:effectLst>
            <a:outerShdw sx="100000" sy="100000" kx="0" ky="0" algn="bl" rotWithShape="0" blurRad="50800" dist="25400" dir="5400000">
              <a:srgbClr val="0F2A43">
                <a:alpha val="14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548640" y="49469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1106424" y="4892040"/>
            <a:ext cx="10536631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es el comportamiento de compra del cliente en volumen/cantidad por orden?</a:t>
            </a:r>
            <a:endParaRPr lang="en-US" sz="1350" dirty="0"/>
          </a:p>
        </p:txBody>
      </p:sp>
      <p:sp>
        <p:nvSpPr>
          <p:cNvPr id="34" name="Shape 29"/>
          <p:cNvSpPr/>
          <p:nvPr/>
        </p:nvSpPr>
        <p:spPr>
          <a:xfrm>
            <a:off x="548640" y="5513832"/>
            <a:ext cx="329184" cy="329184"/>
          </a:xfrm>
          <a:prstGeom prst="ellipse">
            <a:avLst/>
          </a:prstGeom>
          <a:solidFill>
            <a:srgbClr val="1D6F93"/>
          </a:solidFill>
          <a:ln/>
          <a:effectLst>
            <a:outerShdw sx="100000" sy="100000" kx="0" ky="0" algn="bl" rotWithShape="0" blurRad="50800" dist="25400" dir="5400000">
              <a:srgbClr val="0F2A43">
                <a:alpha val="14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548640" y="5513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1106424" y="5458968"/>
            <a:ext cx="10536631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porcentaje de la venta total corresponde a cada categoría de producto?</a:t>
            </a:r>
            <a:endParaRPr lang="en-US" sz="1350" dirty="0"/>
          </a:p>
        </p:txBody>
      </p:sp>
      <p:sp>
        <p:nvSpPr>
          <p:cNvPr id="37" name="Shape 32"/>
          <p:cNvSpPr/>
          <p:nvPr/>
        </p:nvSpPr>
        <p:spPr>
          <a:xfrm>
            <a:off x="548640" y="6515100"/>
            <a:ext cx="82296" cy="82296"/>
          </a:xfrm>
          <a:prstGeom prst="ellipse">
            <a:avLst/>
          </a:prstGeom>
          <a:solidFill>
            <a:srgbClr val="2FA8D8"/>
          </a:solidFill>
          <a:ln/>
        </p:spPr>
      </p:sp>
      <p:sp>
        <p:nvSpPr>
          <p:cNvPr id="38" name="Text 33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 Foods · Avance 1 — Modelo Dimensional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E7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-1371600"/>
            <a:ext cx="3291840" cy="3291840"/>
          </a:xfrm>
          <a:prstGeom prst="ellipse">
            <a:avLst/>
          </a:prstGeom>
          <a:solidFill>
            <a:srgbClr val="BFE4F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42855" y="-685800"/>
            <a:ext cx="1874520" cy="1874520"/>
          </a:xfrm>
          <a:prstGeom prst="ellipse">
            <a:avLst/>
          </a:prstGeom>
          <a:solidFill>
            <a:srgbClr val="2FA8D8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20040"/>
            <a:ext cx="548640" cy="548640"/>
          </a:xfrm>
          <a:prstGeom prst="ellipse">
            <a:avLst/>
          </a:prstGeom>
          <a:solidFill>
            <a:srgbClr val="0F2A43"/>
          </a:solidFill>
          <a:ln/>
          <a:effectLst>
            <a:outerShdw sx="100000" sy="100000" kx="0" ky="0" algn="bl" rotWithShape="0" blurRad="76200" dist="25400" dir="5400000">
              <a:srgbClr val="0F2A43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274320"/>
            <a:ext cx="103171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Desempeño (KPIs)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85998" y="1362456"/>
            <a:ext cx="1344168" cy="1344168"/>
          </a:xfrm>
          <a:prstGeom prst="ellipse">
            <a:avLst/>
          </a:prstGeom>
          <a:solidFill>
            <a:srgbClr val="0F2A43">
              <a:alpha val="75000"/>
            </a:srgbClr>
          </a:solidFill>
          <a:ln/>
        </p:spPr>
      </p:sp>
      <p:pic>
        <p:nvPicPr>
          <p:cNvPr id="8" name="Image 0" descr="/tmp/claude-1000/-home-mati-proyectos-INF330-proyecto-BI/de1d8a94-a355-4200-8f20-8d02d543867f/scratchpad/pptxbuild/icons/clockK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8022" y="1554480"/>
            <a:ext cx="960120" cy="960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" y="2715768"/>
            <a:ext cx="207257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" y="3026664"/>
            <a:ext cx="1999427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Promedio de Envío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44850" y="4160520"/>
            <a:ext cx="1426464" cy="347472"/>
          </a:xfrm>
          <a:prstGeom prst="roundRect">
            <a:avLst>
              <a:gd name="adj" fmla="val 50000"/>
            </a:avLst>
          </a:prstGeom>
          <a:solidFill>
            <a:srgbClr val="0F2A43"/>
          </a:solidFill>
          <a:ln/>
          <a:effectLst>
            <a:outerShdw sx="100000" sy="100000" kx="0" ky="0" algn="bl" rotWithShape="0" blurRad="63500" dist="25400" dir="5400000">
              <a:srgbClr val="0F2A43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44850" y="416052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04881" y="1362456"/>
            <a:ext cx="1344168" cy="1344168"/>
          </a:xfrm>
          <a:prstGeom prst="ellipse">
            <a:avLst/>
          </a:prstGeom>
          <a:solidFill>
            <a:srgbClr val="1D6F93">
              <a:alpha val="70000"/>
            </a:srgbClr>
          </a:solidFill>
          <a:ln/>
        </p:spPr>
      </p:sp>
      <p:pic>
        <p:nvPicPr>
          <p:cNvPr id="14" name="Image 1" descr="/tmp/claude-1000/-home-mati-proyectos-INF330-proyecto-BI/de1d8a94-a355-4200-8f20-8d02d543867f/scratchpad/pptxbuild/icons/map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905" y="1554480"/>
            <a:ext cx="960120" cy="9601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40675" y="2715768"/>
            <a:ext cx="207257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877251" y="3026664"/>
            <a:ext cx="1999427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de Ventas por Región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3163733" y="4160520"/>
            <a:ext cx="1426464" cy="347472"/>
          </a:xfrm>
          <a:prstGeom prst="roundRect">
            <a:avLst>
              <a:gd name="adj" fmla="val 50000"/>
            </a:avLst>
          </a:prstGeom>
          <a:solidFill>
            <a:srgbClr val="1D6F93"/>
          </a:solidFill>
          <a:ln/>
          <a:effectLst>
            <a:outerShdw sx="100000" sy="100000" kx="0" ky="0" algn="bl" rotWithShape="0" blurRad="63500" dist="25400" dir="5400000">
              <a:srgbClr val="0F2A43">
                <a:alpha val="14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3163733" y="416052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423764" y="1362456"/>
            <a:ext cx="1344168" cy="1344168"/>
          </a:xfrm>
          <a:prstGeom prst="ellipse">
            <a:avLst/>
          </a:prstGeom>
          <a:solidFill>
            <a:srgbClr val="2FA8D8">
              <a:alpha val="55000"/>
            </a:srgbClr>
          </a:solidFill>
          <a:ln/>
        </p:spPr>
      </p:sp>
      <p:pic>
        <p:nvPicPr>
          <p:cNvPr id="20" name="Image 2" descr="/tmp/claude-1000/-home-mati-proyectos-INF330-proyecto-BI/de1d8a94-a355-4200-8f20-8d02d543867f/scratchpad/pptxbuild/icons/factory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5788" y="1554480"/>
            <a:ext cx="960120" cy="9601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59558" y="2715768"/>
            <a:ext cx="207257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096134" y="3026664"/>
            <a:ext cx="1999427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Totales por Proveedor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5382616" y="4160520"/>
            <a:ext cx="1426464" cy="347472"/>
          </a:xfrm>
          <a:prstGeom prst="roundRect">
            <a:avLst>
              <a:gd name="adj" fmla="val 50000"/>
            </a:avLst>
          </a:prstGeom>
          <a:solidFill>
            <a:srgbClr val="2FA8D8"/>
          </a:solidFill>
          <a:ln/>
          <a:effectLst>
            <a:outerShdw sx="100000" sy="100000" kx="0" ky="0" algn="bl" rotWithShape="0" blurRad="63500" dist="25400" dir="5400000">
              <a:srgbClr val="0F2A43">
                <a:alpha val="14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5382616" y="416052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Agregado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7642647" y="1362456"/>
            <a:ext cx="1344168" cy="1344168"/>
          </a:xfrm>
          <a:prstGeom prst="ellipse">
            <a:avLst/>
          </a:prstGeom>
          <a:solidFill>
            <a:srgbClr val="0F2A43">
              <a:alpha val="75000"/>
            </a:srgbClr>
          </a:solidFill>
          <a:ln/>
        </p:spPr>
      </p:sp>
      <p:pic>
        <p:nvPicPr>
          <p:cNvPr id="26" name="Image 3" descr="/tmp/claude-1000/-home-mati-proyectos-INF330-proyecto-BI/de1d8a94-a355-4200-8f20-8d02d543867f/scratchpad/pptxbuild/icons/basketC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4671" y="1554480"/>
            <a:ext cx="960120" cy="9601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78441" y="2715768"/>
            <a:ext cx="207257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315017" y="3026664"/>
            <a:ext cx="1999427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 Compras por Pedido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7601499" y="4160520"/>
            <a:ext cx="1426464" cy="347472"/>
          </a:xfrm>
          <a:prstGeom prst="roundRect">
            <a:avLst>
              <a:gd name="adj" fmla="val 50000"/>
            </a:avLst>
          </a:prstGeom>
          <a:solidFill>
            <a:srgbClr val="0F2A43"/>
          </a:solidFill>
          <a:ln/>
          <a:effectLst>
            <a:outerShdw sx="100000" sy="100000" kx="0" ky="0" algn="bl" rotWithShape="0" blurRad="63500" dist="25400" dir="5400000">
              <a:srgbClr val="0F2A43">
                <a:alpha val="14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7601499" y="416052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9861530" y="1362456"/>
            <a:ext cx="1344168" cy="1344168"/>
          </a:xfrm>
          <a:prstGeom prst="ellipse">
            <a:avLst/>
          </a:prstGeom>
          <a:solidFill>
            <a:srgbClr val="1D6F93">
              <a:alpha val="70000"/>
            </a:srgbClr>
          </a:solidFill>
          <a:ln/>
        </p:spPr>
      </p:sp>
      <p:pic>
        <p:nvPicPr>
          <p:cNvPr id="32" name="Image 4" descr="/tmp/claude-1000/-home-mati-proyectos-INF330-proyecto-BI/de1d8a94-a355-4200-8f20-8d02d543867f/scratchpad/pptxbuild/icons/pie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3554" y="1554480"/>
            <a:ext cx="960120" cy="9601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497324" y="2715768"/>
            <a:ext cx="207257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5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9533900" y="3026664"/>
            <a:ext cx="1999427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Venta por Categoría de Producto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9820382" y="4160520"/>
            <a:ext cx="1426464" cy="347472"/>
          </a:xfrm>
          <a:prstGeom prst="roundRect">
            <a:avLst>
              <a:gd name="adj" fmla="val 50000"/>
            </a:avLst>
          </a:prstGeom>
          <a:solidFill>
            <a:srgbClr val="1D6F93"/>
          </a:solidFill>
          <a:ln/>
          <a:effectLst>
            <a:outerShdw sx="100000" sy="100000" kx="0" ky="0" algn="bl" rotWithShape="0" blurRad="63500" dist="25400" dir="5400000">
              <a:srgbClr val="0F2A43">
                <a:alpha val="14000"/>
              </a:srgbClr>
            </a:outerShdw>
          </a:effectLst>
        </p:spPr>
      </p:sp>
      <p:sp>
        <p:nvSpPr>
          <p:cNvPr id="36" name="Text 29"/>
          <p:cNvSpPr/>
          <p:nvPr/>
        </p:nvSpPr>
        <p:spPr>
          <a:xfrm>
            <a:off x="9820382" y="416052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tipos exigida por la pauta: promedio (KPI1, KPI4) · variación (KPI2) · ratio (KPI5).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548640" y="6515100"/>
            <a:ext cx="82296" cy="82296"/>
          </a:xfrm>
          <a:prstGeom prst="ellipse">
            <a:avLst/>
          </a:prstGeom>
          <a:solidFill>
            <a:srgbClr val="2FA8D8"/>
          </a:solidFill>
          <a:ln/>
        </p:spPr>
      </p:sp>
      <p:sp>
        <p:nvSpPr>
          <p:cNvPr id="39" name="Text 32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 Foods · Avance 1 — Modelo Dimensional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E7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-1371600"/>
            <a:ext cx="3291840" cy="3291840"/>
          </a:xfrm>
          <a:prstGeom prst="ellipse">
            <a:avLst/>
          </a:prstGeom>
          <a:solidFill>
            <a:srgbClr val="BFE4F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42855" y="-685800"/>
            <a:ext cx="1874520" cy="1874520"/>
          </a:xfrm>
          <a:prstGeom prst="ellipse">
            <a:avLst/>
          </a:prstGeom>
          <a:solidFill>
            <a:srgbClr val="2FA8D8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20040"/>
            <a:ext cx="548640" cy="548640"/>
          </a:xfrm>
          <a:prstGeom prst="ellipse">
            <a:avLst/>
          </a:prstGeom>
          <a:solidFill>
            <a:srgbClr val="0F2A43"/>
          </a:solidFill>
          <a:ln/>
          <a:effectLst>
            <a:outerShdw sx="100000" sy="100000" kx="0" ky="0" algn="bl" rotWithShape="0" blurRad="76200" dist="25400" dir="5400000">
              <a:srgbClr val="0F2A43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274320"/>
            <a:ext cx="103171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Calidad y Utilidad de los Datos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664647" y="100584"/>
            <a:ext cx="1088136" cy="1088136"/>
          </a:xfrm>
          <a:prstGeom prst="ellipse">
            <a:avLst/>
          </a:prstGeom>
          <a:solidFill>
            <a:srgbClr val="2FA8D8">
              <a:alpha val="55000"/>
            </a:srgbClr>
          </a:solidFill>
          <a:ln/>
        </p:spPr>
      </p:sp>
      <p:pic>
        <p:nvPicPr>
          <p:cNvPr id="8" name="Image 0" descr="/tmp/claude-1000/-home-mati-proyectos-INF330-proyecto-BI/de1d8a94-a355-4200-8f20-8d02d543867f/scratchpad/pptxbuild/icons/database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56032"/>
            <a:ext cx="777240" cy="777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042416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validó sistemáticamente la base relacional fuente (tablas, claves, relaciones, tipos de datos) antes de diseñar el modelo.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1600200"/>
            <a:ext cx="348477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EEF8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49808" y="1783080"/>
            <a:ext cx="310896" cy="310896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" y="17830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43000" y="1783080"/>
            <a:ext cx="266181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faltantes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7240" y="2167128"/>
            <a:ext cx="302757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830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777240" y="2660904"/>
            <a:ext cx="30275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(2,5%) sin fecha de envío registrada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7240" y="3081528"/>
            <a:ext cx="302757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aún no despachados. Se excluyen del cálculo de KPI1 (tiempo de envío).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353458" y="1600200"/>
            <a:ext cx="348477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EEF8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3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54626" y="1783080"/>
            <a:ext cx="310896" cy="310896"/>
          </a:xfrm>
          <a:prstGeom prst="ellipse">
            <a:avLst/>
          </a:prstGeom>
          <a:solidFill>
            <a:srgbClr val="1D6F93"/>
          </a:solidFill>
          <a:ln/>
        </p:spPr>
      </p:sp>
      <p:sp>
        <p:nvSpPr>
          <p:cNvPr id="19" name="Text 16"/>
          <p:cNvSpPr/>
          <p:nvPr/>
        </p:nvSpPr>
        <p:spPr>
          <a:xfrm>
            <a:off x="4554626" y="17830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947818" y="1783080"/>
            <a:ext cx="266181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corregido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82058" y="2167128"/>
            <a:ext cx="302757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 directo Empleados→Territorios inflaba las ventas por región (1 empleado cubre 2 a 10 territorios).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810658" y="2862072"/>
            <a:ext cx="457200" cy="731520"/>
          </a:xfrm>
          <a:prstGeom prst="rect">
            <a:avLst/>
          </a:prstGeom>
          <a:solidFill>
            <a:srgbClr val="BFE4F2"/>
          </a:solidFill>
          <a:ln/>
        </p:spPr>
      </p:sp>
      <p:sp>
        <p:nvSpPr>
          <p:cNvPr id="23" name="Shape 20"/>
          <p:cNvSpPr/>
          <p:nvPr/>
        </p:nvSpPr>
        <p:spPr>
          <a:xfrm>
            <a:off x="5725058" y="3209544"/>
            <a:ext cx="457200" cy="384048"/>
          </a:xfrm>
          <a:prstGeom prst="rect">
            <a:avLst/>
          </a:prstGeom>
          <a:solidFill>
            <a:srgbClr val="2FA8D8"/>
          </a:solidFill>
          <a:ln/>
        </p:spPr>
      </p:sp>
      <p:sp>
        <p:nvSpPr>
          <p:cNvPr id="24" name="Text 21"/>
          <p:cNvSpPr/>
          <p:nvPr/>
        </p:nvSpPr>
        <p:spPr>
          <a:xfrm>
            <a:off x="4490618" y="362102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directa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(duplicada)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405018" y="36210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Corregido</a:t>
            </a:r>
            <a:endParaRPr lang="en-US" sz="900" dirty="0"/>
          </a:p>
        </p:txBody>
      </p:sp>
      <p:pic>
        <p:nvPicPr>
          <p:cNvPr id="26" name="Image 1" descr="/tmp/claude-1000/-home-mati-proyectos-INF330-proyecto-BI/de1d8a94-a355-4200-8f20-8d02d543867f/scratchpad/pptxbuild/icons/checkGlyp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530" y="3008376"/>
            <a:ext cx="292608" cy="292608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8158277" y="1600200"/>
            <a:ext cx="348477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EEF8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3">
                <a:alpha val="16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8359445" y="1783080"/>
            <a:ext cx="310896" cy="310896"/>
          </a:xfrm>
          <a:prstGeom prst="ellipse">
            <a:avLst/>
          </a:prstGeom>
          <a:solidFill>
            <a:srgbClr val="2FA8D8"/>
          </a:solidFill>
          <a:ln/>
        </p:spPr>
      </p:sp>
      <p:sp>
        <p:nvSpPr>
          <p:cNvPr id="29" name="Text 25"/>
          <p:cNvSpPr/>
          <p:nvPr/>
        </p:nvSpPr>
        <p:spPr>
          <a:xfrm>
            <a:off x="8359445" y="17830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8752637" y="1783080"/>
            <a:ext cx="22503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Territorio</a:t>
            </a:r>
            <a:endParaRPr lang="en-US" sz="1300" dirty="0"/>
          </a:p>
        </p:txBody>
      </p:sp>
      <p:pic>
        <p:nvPicPr>
          <p:cNvPr id="31" name="Image 2" descr="/tmp/claude-1000/-home-mati-proyectos-INF330-proyecto-BI/de1d8a94-a355-4200-8f20-8d02d543867f/scratchpad/pptxbuild/icons/hourglassPen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1719072"/>
            <a:ext cx="457200" cy="45720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386877" y="2130552"/>
            <a:ext cx="3027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conocida (no bloqueante)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8386877" y="2441448"/>
            <a:ext cx="302757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reconstruible a nivel de venta individual (el dato transaccional solo llega de forma confiable hasta Región). No afecta ningún KPI de este avance.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8386877" y="3410712"/>
            <a:ext cx="30275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resuelto en Avance 2 (bridge table).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548640" y="4069080"/>
            <a:ext cx="5120640" cy="566928"/>
          </a:xfrm>
          <a:prstGeom prst="roundRect">
            <a:avLst>
              <a:gd name="adj" fmla="val 50000"/>
            </a:avLst>
          </a:prstGeom>
          <a:solidFill>
            <a:srgbClr val="2FA8D8"/>
          </a:solidFill>
          <a:ln/>
          <a:effectLst>
            <a:outerShdw sx="100000" sy="100000" kx="0" ky="0" algn="bl" rotWithShape="0" blurRad="76200" dist="38100" dir="5400000">
              <a:srgbClr val="0F2A43">
                <a:alpha val="18000"/>
              </a:srgbClr>
            </a:outerShdw>
          </a:effectLst>
        </p:spPr>
      </p:sp>
      <p:pic>
        <p:nvPicPr>
          <p:cNvPr id="36" name="Image 3" descr="/tmp/claude-1000/-home-mati-proyectos-INF330-proyecto-BI/de1d8a94-a355-4200-8f20-8d02d543867f/scratchpad/pptxbuild/icons/databaseSearch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187952"/>
            <a:ext cx="329184" cy="32918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078992" y="4069080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total verificada: 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$1.265.793,04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5943600" y="4069080"/>
            <a:ext cx="5699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sin doble conteo: 77 productos ↔ 29 proveedores (relación 1 a 1).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548640" y="481888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BFE4F2"/>
          </a:solidFill>
          <a:ln/>
          <a:effectLst>
            <a:outerShdw sx="100000" sy="100000" kx="0" ky="0" algn="bl" rotWithShape="0" blurRad="63500" dist="25400" dir="5400000">
              <a:srgbClr val="0F2A43">
                <a:alpha val="10000"/>
              </a:srgbClr>
            </a:outerShdw>
          </a:effectLst>
        </p:spPr>
      </p:sp>
      <p:sp>
        <p:nvSpPr>
          <p:cNvPr id="40" name="Text 34"/>
          <p:cNvSpPr/>
          <p:nvPr/>
        </p:nvSpPr>
        <p:spPr>
          <a:xfrm>
            <a:off x="731520" y="4818888"/>
            <a:ext cx="107286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Decir en la exposición:  </a:t>
            </a:r>
            <a:pPr algn="l" indent="0" marL="0">
              <a:buNone/>
            </a:pPr>
            <a:r>
              <a:rPr lang="en-US" sz="12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"Detectamos esta limitación al validar los datos, la dejamos documentada, y la resolvemos en el próximo avance."</a:t>
            </a:r>
            <a:endParaRPr lang="en-US" sz="1250" dirty="0"/>
          </a:p>
        </p:txBody>
      </p:sp>
      <p:sp>
        <p:nvSpPr>
          <p:cNvPr id="41" name="Shape 35"/>
          <p:cNvSpPr/>
          <p:nvPr/>
        </p:nvSpPr>
        <p:spPr>
          <a:xfrm>
            <a:off x="548640" y="6515100"/>
            <a:ext cx="82296" cy="82296"/>
          </a:xfrm>
          <a:prstGeom prst="ellipse">
            <a:avLst/>
          </a:prstGeom>
          <a:solidFill>
            <a:srgbClr val="2FA8D8"/>
          </a:solidFill>
          <a:ln/>
        </p:spPr>
      </p:sp>
      <p:sp>
        <p:nvSpPr>
          <p:cNvPr id="42" name="Text 36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 Foods · Avance 1 — Modelo Dimensional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E7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-1371600"/>
            <a:ext cx="3291840" cy="3291840"/>
          </a:xfrm>
          <a:prstGeom prst="ellipse">
            <a:avLst/>
          </a:prstGeom>
          <a:solidFill>
            <a:srgbClr val="BFE4F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42855" y="-685800"/>
            <a:ext cx="1874520" cy="1874520"/>
          </a:xfrm>
          <a:prstGeom prst="ellipse">
            <a:avLst/>
          </a:prstGeom>
          <a:solidFill>
            <a:srgbClr val="2FA8D8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20040"/>
            <a:ext cx="548640" cy="548640"/>
          </a:xfrm>
          <a:prstGeom prst="ellipse">
            <a:avLst/>
          </a:prstGeom>
          <a:solidFill>
            <a:srgbClr val="0F2A43"/>
          </a:solidFill>
          <a:ln/>
          <a:effectLst>
            <a:outerShdw sx="100000" sy="100000" kx="0" ky="0" algn="bl" rotWithShape="0" blurRad="76200" dist="25400" dir="5400000">
              <a:srgbClr val="0F2A43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274320"/>
            <a:ext cx="103171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 y Jerarquías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115568"/>
            <a:ext cx="11094415" cy="530352"/>
          </a:xfrm>
          <a:prstGeom prst="roundRect">
            <a:avLst>
              <a:gd name="adj" fmla="val 13793"/>
            </a:avLst>
          </a:prstGeom>
          <a:solidFill>
            <a:srgbClr val="BFE4F2"/>
          </a:solidFill>
          <a:ln/>
          <a:effectLst>
            <a:outerShdw sx="100000" sy="100000" kx="0" ky="0" algn="bl" rotWithShape="0" blurRad="63500" dist="25400" dir="5400000">
              <a:srgbClr val="0F2A4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115568"/>
            <a:ext cx="1072865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Grano (nivel atómico):  </a:t>
            </a:r>
            <a:pPr algn="l"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línea de producto dentro de una orden específica.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57400" y="2103120"/>
            <a:ext cx="1874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D6F93"/>
            </a:solidFill>
            <a:prstDash val="solid"/>
          </a:ln>
          <a:effectLst>
            <a:outerShdw sx="100000" sy="100000" kx="0" ky="0" algn="bl" rotWithShape="0" blurRad="50800" dist="25400" dir="5400000">
              <a:srgbClr val="0F2A4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57400" y="21031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931920" y="2331720"/>
            <a:ext cx="502920" cy="0"/>
          </a:xfrm>
          <a:prstGeom prst="line">
            <a:avLst/>
          </a:prstGeom>
          <a:noFill/>
          <a:ln w="25400">
            <a:solidFill>
              <a:srgbClr val="1D6F9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34840" y="2103120"/>
            <a:ext cx="1874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D6F93"/>
            </a:solidFill>
            <a:prstDash val="solid"/>
          </a:ln>
          <a:effectLst>
            <a:outerShdw sx="100000" sy="100000" kx="0" ky="0" algn="bl" rotWithShape="0" blurRad="50800" dist="25400" dir="5400000">
              <a:srgbClr val="0F2A4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34840" y="21031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2331720"/>
            <a:ext cx="502920" cy="0"/>
          </a:xfrm>
          <a:prstGeom prst="line">
            <a:avLst/>
          </a:prstGeom>
          <a:noFill/>
          <a:ln w="25400">
            <a:solidFill>
              <a:srgbClr val="1D6F9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12280" y="2103120"/>
            <a:ext cx="1874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D6F93"/>
            </a:solidFill>
            <a:prstDash val="solid"/>
          </a:ln>
          <a:effectLst>
            <a:outerShdw sx="100000" sy="100000" kx="0" ky="0" algn="bl" rotWithShape="0" blurRad="50800" dist="25400" dir="5400000">
              <a:srgbClr val="0F2A4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21031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0" y="2331720"/>
            <a:ext cx="502920" cy="0"/>
          </a:xfrm>
          <a:prstGeom prst="line">
            <a:avLst/>
          </a:prstGeom>
          <a:noFill/>
          <a:ln w="25400">
            <a:solidFill>
              <a:srgbClr val="1D6F9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89720" y="2103120"/>
            <a:ext cx="1874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D6F93"/>
            </a:solidFill>
            <a:prstDash val="solid"/>
          </a:ln>
          <a:effectLst>
            <a:outerShdw sx="100000" sy="100000" kx="0" ky="0" algn="bl" rotWithShape="0" blurRad="50800" dist="25400" dir="5400000">
              <a:srgbClr val="0F2A43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89720" y="21031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017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Geografía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057400" y="3017520"/>
            <a:ext cx="1874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D6F93"/>
            </a:solidFill>
            <a:prstDash val="solid"/>
          </a:ln>
          <a:effectLst>
            <a:outerShdw sx="100000" sy="100000" kx="0" ky="0" algn="bl" rotWithShape="0" blurRad="50800" dist="25400" dir="5400000">
              <a:srgbClr val="0F2A43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057400" y="30175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931920" y="3246120"/>
            <a:ext cx="502920" cy="0"/>
          </a:xfrm>
          <a:prstGeom prst="line">
            <a:avLst/>
          </a:prstGeom>
          <a:noFill/>
          <a:ln w="25400">
            <a:solidFill>
              <a:srgbClr val="2FA8D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434840" y="3017520"/>
            <a:ext cx="1874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D6F93"/>
            </a:solidFill>
            <a:prstDash val="solid"/>
          </a:ln>
          <a:effectLst>
            <a:outerShdw sx="100000" sy="100000" kx="0" ky="0" algn="bl" rotWithShape="0" blurRad="50800" dist="25400" dir="5400000">
              <a:srgbClr val="0F2A43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34840" y="30175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09360" y="3246120"/>
            <a:ext cx="502920" cy="0"/>
          </a:xfrm>
          <a:prstGeom prst="line">
            <a:avLst/>
          </a:prstGeom>
          <a:noFill/>
          <a:ln w="25400">
            <a:solidFill>
              <a:srgbClr val="2FA8D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12280" y="3017520"/>
            <a:ext cx="1874520" cy="457200"/>
          </a:xfrm>
          <a:prstGeom prst="roundRect">
            <a:avLst>
              <a:gd name="adj" fmla="val 12000"/>
            </a:avLst>
          </a:prstGeom>
          <a:solidFill>
            <a:srgbClr val="EDE6D2"/>
          </a:solidFill>
          <a:ln w="15875">
            <a:solidFill>
              <a:srgbClr val="C9BE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30175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Territorio</a:t>
            </a:r>
            <a:endParaRPr lang="en-US" sz="1300" dirty="0"/>
          </a:p>
        </p:txBody>
      </p:sp>
      <p:pic>
        <p:nvPicPr>
          <p:cNvPr id="30" name="Image 0" descr="/tmp/claude-1000/-home-mati-proyectos-INF330-proyecto-BI/de1d8a94-a355-4200-8f20-8d02d543867f/scratchpad/pptxbuild/icons/warningGly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2" y="2889504"/>
            <a:ext cx="274320" cy="27432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8686800" y="3246120"/>
            <a:ext cx="502920" cy="0"/>
          </a:xfrm>
          <a:prstGeom prst="line">
            <a:avLst/>
          </a:prstGeom>
          <a:noFill/>
          <a:ln w="25400">
            <a:solidFill>
              <a:srgbClr val="2FA8D8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9189720" y="3017520"/>
            <a:ext cx="1874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D6F93"/>
            </a:solidFill>
            <a:prstDash val="solid"/>
          </a:ln>
          <a:effectLst>
            <a:outerShdw sx="100000" sy="100000" kx="0" ky="0" algn="bl" rotWithShape="0" blurRad="50800" dist="25400" dir="5400000">
              <a:srgbClr val="0F2A43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9189720" y="30175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48640" y="3931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2057400" y="3931920"/>
            <a:ext cx="1874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D6F93"/>
            </a:solidFill>
            <a:prstDash val="solid"/>
          </a:ln>
          <a:effectLst>
            <a:outerShdw sx="100000" sy="100000" kx="0" ky="0" algn="bl" rotWithShape="0" blurRad="50800" dist="25400" dir="5400000">
              <a:srgbClr val="0F2A43">
                <a:alpha val="1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2057400" y="39319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3931920" y="4160520"/>
            <a:ext cx="502920" cy="0"/>
          </a:xfrm>
          <a:prstGeom prst="line">
            <a:avLst/>
          </a:prstGeom>
          <a:noFill/>
          <a:ln w="25400">
            <a:solidFill>
              <a:srgbClr val="0F2A43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4434840" y="3931920"/>
            <a:ext cx="1874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D6F93"/>
            </a:solidFill>
            <a:prstDash val="solid"/>
          </a:ln>
          <a:effectLst>
            <a:outerShdw sx="100000" sy="100000" kx="0" ky="0" algn="bl" rotWithShape="0" blurRad="50800" dist="25400" dir="5400000">
              <a:srgbClr val="0F2A43">
                <a:alpha val="10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4434840" y="39319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1DFAE"/>
          </a:solidFill>
          <a:ln/>
          <a:effectLst>
            <a:outerShdw sx="100000" sy="100000" kx="0" ky="0" algn="bl" rotWithShape="0" blurRad="76200" dist="25400" dir="5400000">
              <a:srgbClr val="0F2A43">
                <a:alpha val="12000"/>
              </a:srgbClr>
            </a:outerShdw>
          </a:effectLst>
        </p:spPr>
      </p:sp>
      <p:pic>
        <p:nvPicPr>
          <p:cNvPr id="41" name="Image 1" descr="/tmp/claude-1000/-home-mati-proyectos-INF330-proyecto-BI/de1d8a94-a355-4200-8f20-8d02d543867f/scratchpad/pptxbuild/icons/warning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102352"/>
            <a:ext cx="548640" cy="54864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1463040" y="4956048"/>
            <a:ext cx="99971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(limitación conocida, resuelta en Avance 2):  </a:t>
            </a:r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Territorio es informativo (cobertura del empleado), no está disponible a nivel de venta individual — el análisis de ventas es confiable hasta Región.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48640" y="6515100"/>
            <a:ext cx="82296" cy="82296"/>
          </a:xfrm>
          <a:prstGeom prst="ellipse">
            <a:avLst/>
          </a:prstGeom>
          <a:solidFill>
            <a:srgbClr val="2FA8D8"/>
          </a:solidFill>
          <a:ln/>
        </p:spPr>
      </p:sp>
      <p:sp>
        <p:nvSpPr>
          <p:cNvPr id="44" name="Text 4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 Foods · Avance 1 — Modelo Dimensional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E7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-1371600"/>
            <a:ext cx="3291840" cy="3291840"/>
          </a:xfrm>
          <a:prstGeom prst="ellipse">
            <a:avLst/>
          </a:prstGeom>
          <a:solidFill>
            <a:srgbClr val="BFE4F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42855" y="-685800"/>
            <a:ext cx="1874520" cy="1874520"/>
          </a:xfrm>
          <a:prstGeom prst="ellipse">
            <a:avLst/>
          </a:prstGeom>
          <a:solidFill>
            <a:srgbClr val="2FA8D8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20040"/>
            <a:ext cx="548640" cy="548640"/>
          </a:xfrm>
          <a:prstGeom prst="ellipse">
            <a:avLst/>
          </a:prstGeom>
          <a:solidFill>
            <a:srgbClr val="0F2A43"/>
          </a:solidFill>
          <a:ln/>
          <a:effectLst>
            <a:outerShdw sx="100000" sy="100000" kx="0" ky="0" algn="bl" rotWithShape="0" blurRad="76200" dist="25400" dir="5400000">
              <a:srgbClr val="0F2A43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274320"/>
            <a:ext cx="103171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 del Modelo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45429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EEF8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3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45738" y="1289304"/>
            <a:ext cx="347472" cy="347472"/>
          </a:xfrm>
          <a:prstGeom prst="ellipse">
            <a:avLst/>
          </a:prstGeom>
          <a:solidFill>
            <a:srgbClr val="0F2A43"/>
          </a:solidFill>
          <a:ln w="25400"/>
          <a:effectLst>
            <a:outerShdw sx="100000" sy="100000" kx="0" ky="0" algn="bl" rotWithShape="0" blurRad="50800" dist="25400" dir="5400000">
              <a:srgbClr val="0F2A4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45738" y="12893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89328" y="1461211"/>
            <a:ext cx="972922" cy="972922"/>
          </a:xfrm>
          <a:prstGeom prst="ellipse">
            <a:avLst/>
          </a:prstGeom>
          <a:solidFill>
            <a:srgbClr val="0F2A43">
              <a:alpha val="75000"/>
            </a:srgbClr>
          </a:solidFill>
          <a:ln/>
        </p:spPr>
      </p:sp>
      <p:pic>
        <p:nvPicPr>
          <p:cNvPr id="11" name="Image 0" descr="/tmp/claude-1000/-home-mati-proyectos-INF330-proyecto-BI/de1d8a94-a355-4200-8f20-8d02d543867f/scratchpad/pptxbuild/icons/calendar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8317" y="1600200"/>
            <a:ext cx="694944" cy="6949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3232" y="2377440"/>
            <a:ext cx="31251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Dim_Tiempo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9808" y="2697480"/>
            <a:ext cx="305196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histórico por año, trimestre, mes y día.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68698" y="1417320"/>
            <a:ext cx="345429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EEF8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3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365797" y="1289304"/>
            <a:ext cx="347472" cy="347472"/>
          </a:xfrm>
          <a:prstGeom prst="ellipse">
            <a:avLst/>
          </a:prstGeom>
          <a:solidFill>
            <a:srgbClr val="1D6F93"/>
          </a:solidFill>
          <a:ln w="25400"/>
          <a:effectLst>
            <a:outerShdw sx="100000" sy="100000" kx="0" ky="0" algn="bl" rotWithShape="0" blurRad="50800" dist="25400" dir="5400000">
              <a:srgbClr val="0F2A43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365797" y="12893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09387" y="1461211"/>
            <a:ext cx="972922" cy="972922"/>
          </a:xfrm>
          <a:prstGeom prst="ellipse">
            <a:avLst/>
          </a:prstGeom>
          <a:solidFill>
            <a:srgbClr val="1D6F93">
              <a:alpha val="70000"/>
            </a:srgbClr>
          </a:solidFill>
          <a:ln/>
        </p:spPr>
      </p:sp>
      <p:pic>
        <p:nvPicPr>
          <p:cNvPr id="18" name="Image 1" descr="/tmp/claude-1000/-home-mati-proyectos-INF330-proyecto-BI/de1d8a94-a355-4200-8f20-8d02d543867f/scratchpad/pptxbuild/icons/food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8376" y="1600200"/>
            <a:ext cx="694944" cy="6949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33290" y="2377440"/>
            <a:ext cx="31251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Dim_Producto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569866" y="2697480"/>
            <a:ext cx="305196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ventas por producto y categoría.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188757" y="1417320"/>
            <a:ext cx="345429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EEF8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3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11185855" y="1289304"/>
            <a:ext cx="347472" cy="347472"/>
          </a:xfrm>
          <a:prstGeom prst="ellipse">
            <a:avLst/>
          </a:prstGeom>
          <a:solidFill>
            <a:srgbClr val="2FA8D8"/>
          </a:solidFill>
          <a:ln w="25400"/>
          <a:effectLst>
            <a:outerShdw sx="100000" sy="100000" kx="0" ky="0" algn="bl" rotWithShape="0" blurRad="50800" dist="25400" dir="5400000">
              <a:srgbClr val="0F2A43">
                <a:alpha val="16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11185855" y="12893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9429445" y="1461211"/>
            <a:ext cx="972922" cy="972922"/>
          </a:xfrm>
          <a:prstGeom prst="ellipse">
            <a:avLst/>
          </a:prstGeom>
          <a:solidFill>
            <a:srgbClr val="2FA8D8">
              <a:alpha val="55000"/>
            </a:srgbClr>
          </a:solidFill>
          <a:ln/>
        </p:spPr>
      </p:sp>
      <p:pic>
        <p:nvPicPr>
          <p:cNvPr id="25" name="Image 2" descr="/tmp/claude-1000/-home-mati-proyectos-INF330-proyecto-BI/de1d8a94-a355-4200-8f20-8d02d543867f/scratchpad/pptxbuild/icons/person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8434" y="1600200"/>
            <a:ext cx="694944" cy="69494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353349" y="2377440"/>
            <a:ext cx="31251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Dim_Cliente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389925" y="2697480"/>
            <a:ext cx="305196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geográfica y comportamiento de compra.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548640" y="3840480"/>
            <a:ext cx="345429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EEF8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545738" y="3712464"/>
            <a:ext cx="347472" cy="347472"/>
          </a:xfrm>
          <a:prstGeom prst="ellipse">
            <a:avLst/>
          </a:prstGeom>
          <a:solidFill>
            <a:srgbClr val="0F2A43"/>
          </a:solidFill>
          <a:ln w="25400"/>
          <a:effectLst>
            <a:outerShdw sx="100000" sy="100000" kx="0" ky="0" algn="bl" rotWithShape="0" blurRad="50800" dist="25400" dir="5400000">
              <a:srgbClr val="0F2A43">
                <a:alpha val="16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3545738" y="37124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1789328" y="3884371"/>
            <a:ext cx="972922" cy="972922"/>
          </a:xfrm>
          <a:prstGeom prst="ellipse">
            <a:avLst/>
          </a:prstGeom>
          <a:solidFill>
            <a:srgbClr val="0F2A43">
              <a:alpha val="75000"/>
            </a:srgbClr>
          </a:solidFill>
          <a:ln/>
        </p:spPr>
      </p:sp>
      <p:pic>
        <p:nvPicPr>
          <p:cNvPr id="32" name="Image 3" descr="/tmp/claude-1000/-home-mati-proyectos-INF330-proyecto-BI/de1d8a94-a355-4200-8f20-8d02d543867f/scratchpad/pptxbuild/icons/truckSh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8317" y="4023360"/>
            <a:ext cx="694944" cy="69494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13232" y="4800600"/>
            <a:ext cx="31251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Dim_Transportista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749808" y="5120640"/>
            <a:ext cx="305196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desempeño logístico.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4368698" y="3840480"/>
            <a:ext cx="345429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EEF8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3">
                <a:alpha val="16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7365797" y="3712464"/>
            <a:ext cx="347472" cy="347472"/>
          </a:xfrm>
          <a:prstGeom prst="ellipse">
            <a:avLst/>
          </a:prstGeom>
          <a:solidFill>
            <a:srgbClr val="1D6F93"/>
          </a:solidFill>
          <a:ln w="25400"/>
          <a:effectLst>
            <a:outerShdw sx="100000" sy="100000" kx="0" ky="0" algn="bl" rotWithShape="0" blurRad="50800" dist="25400" dir="5400000">
              <a:srgbClr val="0F2A43">
                <a:alpha val="16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7365797" y="37124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5609387" y="3884371"/>
            <a:ext cx="972922" cy="972922"/>
          </a:xfrm>
          <a:prstGeom prst="ellipse">
            <a:avLst/>
          </a:prstGeom>
          <a:solidFill>
            <a:srgbClr val="1D6F93">
              <a:alpha val="70000"/>
            </a:srgbClr>
          </a:solidFill>
          <a:ln/>
        </p:spPr>
      </p:sp>
      <p:pic>
        <p:nvPicPr>
          <p:cNvPr id="39" name="Image 4" descr="/tmp/claude-1000/-home-mati-proyectos-INF330-proyecto-BI/de1d8a94-a355-4200-8f20-8d02d543867f/scratchpad/pptxbuild/icons/employeeBad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8376" y="4023360"/>
            <a:ext cx="694944" cy="69494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4533290" y="4800600"/>
            <a:ext cx="31251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Dim_Empleado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4569866" y="5120640"/>
            <a:ext cx="305196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por región (territorio = dato de cobertura, no de venta individual).</a:t>
            </a:r>
            <a:endParaRPr lang="en-US" sz="1150" dirty="0"/>
          </a:p>
        </p:txBody>
      </p:sp>
      <p:sp>
        <p:nvSpPr>
          <p:cNvPr id="42" name="Shape 35"/>
          <p:cNvSpPr/>
          <p:nvPr/>
        </p:nvSpPr>
        <p:spPr>
          <a:xfrm>
            <a:off x="8188757" y="3840480"/>
            <a:ext cx="345429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EEF8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3">
                <a:alpha val="16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11185855" y="3712464"/>
            <a:ext cx="347472" cy="347472"/>
          </a:xfrm>
          <a:prstGeom prst="ellipse">
            <a:avLst/>
          </a:prstGeom>
          <a:solidFill>
            <a:srgbClr val="2FA8D8"/>
          </a:solidFill>
          <a:ln w="25400"/>
          <a:effectLst>
            <a:outerShdw sx="100000" sy="100000" kx="0" ky="0" algn="bl" rotWithShape="0" blurRad="50800" dist="25400" dir="5400000">
              <a:srgbClr val="0F2A43">
                <a:alpha val="16000"/>
              </a:srgbClr>
            </a:outerShdw>
          </a:effectLst>
        </p:spPr>
      </p:sp>
      <p:sp>
        <p:nvSpPr>
          <p:cNvPr id="44" name="Text 37"/>
          <p:cNvSpPr/>
          <p:nvPr/>
        </p:nvSpPr>
        <p:spPr>
          <a:xfrm>
            <a:off x="11185855" y="37124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5" name="Shape 38"/>
          <p:cNvSpPr/>
          <p:nvPr/>
        </p:nvSpPr>
        <p:spPr>
          <a:xfrm>
            <a:off x="9429445" y="3884371"/>
            <a:ext cx="972922" cy="972922"/>
          </a:xfrm>
          <a:prstGeom prst="ellipse">
            <a:avLst/>
          </a:prstGeom>
          <a:solidFill>
            <a:srgbClr val="2FA8D8">
              <a:alpha val="55000"/>
            </a:srgbClr>
          </a:solidFill>
          <a:ln/>
        </p:spPr>
      </p:sp>
      <p:pic>
        <p:nvPicPr>
          <p:cNvPr id="46" name="Image 5" descr="/tmp/claude-1000/-home-mati-proyectos-INF330-proyecto-BI/de1d8a94-a355-4200-8f20-8d02d543867f/scratchpad/pptxbuild/icons/warehouseIc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8434" y="4023360"/>
            <a:ext cx="694944" cy="69494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8353349" y="4800600"/>
            <a:ext cx="31251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Dim_Proveedor</a:t>
            </a:r>
            <a:endParaRPr lang="en-US" sz="1400" dirty="0"/>
          </a:p>
        </p:txBody>
      </p:sp>
      <p:sp>
        <p:nvSpPr>
          <p:cNvPr id="48" name="Text 40"/>
          <p:cNvSpPr/>
          <p:nvPr/>
        </p:nvSpPr>
        <p:spPr>
          <a:xfrm>
            <a:off x="8389925" y="5120640"/>
            <a:ext cx="305196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Ventas/ingresos generados por proveedor.</a:t>
            </a:r>
            <a:endParaRPr lang="en-US" sz="1150" dirty="0"/>
          </a:p>
        </p:txBody>
      </p:sp>
      <p:sp>
        <p:nvSpPr>
          <p:cNvPr id="49" name="Shape 41"/>
          <p:cNvSpPr/>
          <p:nvPr/>
        </p:nvSpPr>
        <p:spPr>
          <a:xfrm>
            <a:off x="548640" y="6515100"/>
            <a:ext cx="82296" cy="82296"/>
          </a:xfrm>
          <a:prstGeom prst="ellipse">
            <a:avLst/>
          </a:prstGeom>
          <a:solidFill>
            <a:srgbClr val="2FA8D8"/>
          </a:solidFill>
          <a:ln/>
        </p:spPr>
      </p:sp>
      <p:sp>
        <p:nvSpPr>
          <p:cNvPr id="50" name="Text 42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 Foods · Avance 1 — Modelo Dimensional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E7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-1371600"/>
            <a:ext cx="3291840" cy="3291840"/>
          </a:xfrm>
          <a:prstGeom prst="ellipse">
            <a:avLst/>
          </a:prstGeom>
          <a:solidFill>
            <a:srgbClr val="BFE4F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42855" y="-685800"/>
            <a:ext cx="1874520" cy="1874520"/>
          </a:xfrm>
          <a:prstGeom prst="ellipse">
            <a:avLst/>
          </a:prstGeom>
          <a:solidFill>
            <a:srgbClr val="2FA8D8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20040"/>
            <a:ext cx="548640" cy="548640"/>
          </a:xfrm>
          <a:prstGeom prst="ellipse">
            <a:avLst/>
          </a:prstGeom>
          <a:solidFill>
            <a:srgbClr val="0F2A43"/>
          </a:solidFill>
          <a:ln/>
          <a:effectLst>
            <a:outerShdw sx="100000" sy="100000" kx="0" ky="0" algn="bl" rotWithShape="0" blurRad="76200" dist="25400" dir="5400000">
              <a:srgbClr val="0F2A43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274320"/>
            <a:ext cx="103171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Hechos y Medidas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central: </a:t>
            </a:r>
            <a:pPr indent="0" marL="0">
              <a:buNone/>
            </a:pPr>
            <a:r>
              <a:rPr lang="en-US" sz="1500" b="1" dirty="0">
                <a:solidFill>
                  <a:srgbClr val="1D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Fact_Ventas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6126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16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primaria compuesta: id_orden (atributo degenerado) + id_producto.</a:t>
            </a:r>
            <a:endParaRPr lang="en-US" sz="1400" dirty="0"/>
          </a:p>
          <a:p>
            <a:pPr algn="l" marL="203200" indent="-203200">
              <a:spcAft>
                <a:spcPts val="16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base: cantidad, precio_unitario, descuento.</a:t>
            </a:r>
            <a:endParaRPr lang="en-US" sz="1400" dirty="0"/>
          </a:p>
          <a:p>
            <a:pPr algn="l" marL="203200" indent="-203200">
              <a:spcAft>
                <a:spcPts val="16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calculadas: monto_neto (ingreso real) y dias_envio.</a:t>
            </a:r>
            <a:endParaRPr lang="en-US" sz="1400" dirty="0"/>
          </a:p>
          <a:p>
            <a:pPr algn="l" marL="203200" indent="-203200">
              <a:spcAft>
                <a:spcPts val="16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dias_envio es semi-aditiva (se repite por línea dentro de una misma orden) — se agrupa por orden antes de promediar para KPI1.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92440" y="3108960"/>
            <a:ext cx="2286000" cy="1371600"/>
          </a:xfrm>
          <a:prstGeom prst="ellipse">
            <a:avLst/>
          </a:prstGeom>
          <a:solidFill>
            <a:srgbClr val="2FA8D8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flipV="1">
            <a:off x="9235440" y="2318004"/>
            <a:ext cx="9144" cy="1476756"/>
          </a:xfrm>
          <a:prstGeom prst="line">
            <a:avLst/>
          </a:prstGeom>
          <a:noFill/>
          <a:ln w="19050">
            <a:solidFill>
              <a:srgbClr val="1D6F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9235440" y="3056382"/>
            <a:ext cx="1504598" cy="738378"/>
          </a:xfrm>
          <a:prstGeom prst="line">
            <a:avLst/>
          </a:prstGeom>
          <a:noFill/>
          <a:ln w="19050">
            <a:solidFill>
              <a:srgbClr val="2FA8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0" y="3794760"/>
            <a:ext cx="1504598" cy="738378"/>
          </a:xfrm>
          <a:prstGeom prst="line">
            <a:avLst/>
          </a:prstGeom>
          <a:noFill/>
          <a:ln w="19050">
            <a:solidFill>
              <a:srgbClr val="1D6F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35440" y="3794760"/>
            <a:ext cx="9144" cy="1476756"/>
          </a:xfrm>
          <a:prstGeom prst="line">
            <a:avLst/>
          </a:prstGeom>
          <a:noFill/>
          <a:ln w="19050">
            <a:solidFill>
              <a:srgbClr val="2FA8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7730842" y="3794760"/>
            <a:ext cx="1504598" cy="738378"/>
          </a:xfrm>
          <a:prstGeom prst="line">
            <a:avLst/>
          </a:prstGeom>
          <a:noFill/>
          <a:ln w="19050">
            <a:solidFill>
              <a:srgbClr val="1D6F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 flipV="1">
            <a:off x="7730842" y="3056382"/>
            <a:ext cx="1504598" cy="738378"/>
          </a:xfrm>
          <a:prstGeom prst="line">
            <a:avLst/>
          </a:prstGeom>
          <a:noFill/>
          <a:ln w="19050">
            <a:solidFill>
              <a:srgbClr val="2FA8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3429000"/>
            <a:ext cx="1645920" cy="731520"/>
          </a:xfrm>
          <a:prstGeom prst="roundRect">
            <a:avLst>
              <a:gd name="adj" fmla="val 11250"/>
            </a:avLst>
          </a:prstGeom>
          <a:solidFill>
            <a:srgbClr val="0F2A43"/>
          </a:solidFill>
          <a:ln/>
          <a:effectLst>
            <a:outerShdw sx="100000" sy="100000" kx="0" ky="0" algn="bl" rotWithShape="0" blurRad="101600" dist="38100" dir="5400000">
              <a:srgbClr val="0F2A43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0" y="34290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Fact_Ventas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526780" y="2066544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D7EEF8"/>
          </a:solidFill>
          <a:ln/>
          <a:effectLst>
            <a:outerShdw sx="100000" sy="100000" kx="0" ky="0" algn="bl" rotWithShape="0" blurRad="50800" dist="25400" dir="5400000">
              <a:srgbClr val="0F2A43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526780" y="206654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Dim_Tiempo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031378" y="2804922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BFE4F2"/>
          </a:solidFill>
          <a:ln/>
          <a:effectLst>
            <a:outerShdw sx="100000" sy="100000" kx="0" ky="0" algn="bl" rotWithShape="0" blurRad="50800" dist="25400" dir="5400000">
              <a:srgbClr val="0F2A43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31378" y="280492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031378" y="4281678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D7EEF8"/>
          </a:solidFill>
          <a:ln/>
          <a:effectLst>
            <a:outerShdw sx="100000" sy="100000" kx="0" ky="0" algn="bl" rotWithShape="0" blurRad="50800" dist="25400" dir="5400000">
              <a:srgbClr val="0F2A43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031378" y="428167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Dim_Cliente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526780" y="5020056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BFE4F2"/>
          </a:solidFill>
          <a:ln/>
          <a:effectLst>
            <a:outerShdw sx="100000" sy="100000" kx="0" ky="0" algn="bl" rotWithShape="0" blurRad="50800" dist="25400" dir="5400000">
              <a:srgbClr val="0F2A43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26780" y="5020056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Dim_Transportista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022182" y="4281678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D7EEF8"/>
          </a:solidFill>
          <a:ln/>
          <a:effectLst>
            <a:outerShdw sx="100000" sy="100000" kx="0" ky="0" algn="bl" rotWithShape="0" blurRad="50800" dist="25400" dir="5400000">
              <a:srgbClr val="0F2A43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022182" y="428167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Dim_Empleado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022182" y="2804922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BFE4F2"/>
          </a:solidFill>
          <a:ln/>
          <a:effectLst>
            <a:outerShdw sx="100000" sy="100000" kx="0" ky="0" algn="bl" rotWithShape="0" blurRad="50800" dist="25400" dir="5400000">
              <a:srgbClr val="0F2A43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022182" y="280492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Dim_Proveedor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6515100"/>
            <a:ext cx="82296" cy="82296"/>
          </a:xfrm>
          <a:prstGeom prst="ellipse">
            <a:avLst/>
          </a:prstGeom>
          <a:solidFill>
            <a:srgbClr val="2FA8D8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 Foods · Avance 1 — Modelo Dimensional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E7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-1371600"/>
            <a:ext cx="3291840" cy="3291840"/>
          </a:xfrm>
          <a:prstGeom prst="ellipse">
            <a:avLst/>
          </a:prstGeom>
          <a:solidFill>
            <a:srgbClr val="BFE4F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42855" y="-685800"/>
            <a:ext cx="1874520" cy="1874520"/>
          </a:xfrm>
          <a:prstGeom prst="ellipse">
            <a:avLst/>
          </a:prstGeom>
          <a:solidFill>
            <a:srgbClr val="2FA8D8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20040"/>
            <a:ext cx="548640" cy="548640"/>
          </a:xfrm>
          <a:prstGeom prst="ellipse">
            <a:avLst/>
          </a:prstGeom>
          <a:solidFill>
            <a:srgbClr val="0F2A43"/>
          </a:solidFill>
          <a:ln/>
          <a:effectLst>
            <a:outerShdw sx="100000" sy="100000" kx="0" ky="0" algn="bl" rotWithShape="0" blurRad="76200" dist="25400" dir="5400000">
              <a:srgbClr val="0F2A43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274320"/>
            <a:ext cx="103171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Dimensional Físico (SQL Server)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109441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estrella construido en MS SQL Server: 6 dimensiones + Fact_Ventas.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referencial completa: 7 FK correctamente definidas.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KentFoods_DW creada y verificada.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694944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5875">
            <a:solidFill>
              <a:srgbClr val="1D6F93"/>
            </a:solidFill>
            <a:prstDash val="dash"/>
          </a:ln>
          <a:effectLst>
            <a:outerShdw sx="100000" sy="100000" kx="0" ky="0" algn="bl" rotWithShape="0" blurRad="76200" dist="25400" dir="5400000">
              <a:srgbClr val="0F2A4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017520"/>
            <a:ext cx="658368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VA: captura del diagrama ER real desde SQL Server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63840" y="3017520"/>
            <a:ext cx="3779215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5875">
            <a:solidFill>
              <a:srgbClr val="1D6F93"/>
            </a:solidFill>
            <a:prstDash val="dash"/>
          </a:ln>
          <a:effectLst>
            <a:outerShdw sx="100000" sy="100000" kx="0" ky="0" algn="bl" rotWithShape="0" blurRad="76200" dist="25400" dir="5400000">
              <a:srgbClr val="0F2A4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0" y="3017520"/>
            <a:ext cx="3413455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VA: captura del DDL (opcional)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25146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D6F93"/>
          </a:solidFill>
          <a:ln/>
          <a:effectLst>
            <a:outerShdw sx="100000" sy="100000" kx="0" ky="0" algn="bl" rotWithShape="0" blurRad="63500" dist="25400" dir="5400000">
              <a:srgbClr val="0F2A43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2514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2440" y="251460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2FA8D8"/>
          </a:solidFill>
          <a:ln/>
          <a:effectLst>
            <a:outerShdw sx="100000" sy="100000" kx="0" ky="0" algn="bl" rotWithShape="0" blurRad="63500" dist="25400" dir="5400000">
              <a:srgbClr val="0F2A43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92440" y="2514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6515100"/>
            <a:ext cx="82296" cy="82296"/>
          </a:xfrm>
          <a:prstGeom prst="ellipse">
            <a:avLst/>
          </a:prstGeom>
          <a:solidFill>
            <a:srgbClr val="2FA8D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 Foods · Avance 1 — Modelo Dimensional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E7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-1371600"/>
            <a:ext cx="3291840" cy="3291840"/>
          </a:xfrm>
          <a:prstGeom prst="ellipse">
            <a:avLst/>
          </a:prstGeom>
          <a:solidFill>
            <a:srgbClr val="BFE4F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42855" y="-685800"/>
            <a:ext cx="1874520" cy="1874520"/>
          </a:xfrm>
          <a:prstGeom prst="ellipse">
            <a:avLst/>
          </a:prstGeom>
          <a:solidFill>
            <a:srgbClr val="2FA8D8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20040"/>
            <a:ext cx="548640" cy="548640"/>
          </a:xfrm>
          <a:prstGeom prst="ellipse">
            <a:avLst/>
          </a:prstGeom>
          <a:solidFill>
            <a:srgbClr val="0F2A43"/>
          </a:solidFill>
          <a:ln/>
          <a:effectLst>
            <a:outerShdw sx="100000" sy="100000" kx="0" ky="0" algn="bl" rotWithShape="0" blurRad="76200" dist="25400" dir="5400000">
              <a:srgbClr val="0F2A43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274320"/>
            <a:ext cx="103171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Próximos Pasos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21040" y="1051560"/>
            <a:ext cx="1920240" cy="1920240"/>
          </a:xfrm>
          <a:prstGeom prst="ellipse">
            <a:avLst/>
          </a:prstGeom>
          <a:solidFill>
            <a:srgbClr val="2FA8D8">
              <a:alpha val="55000"/>
            </a:srgbClr>
          </a:solidFill>
          <a:ln/>
        </p:spPr>
      </p:sp>
      <p:pic>
        <p:nvPicPr>
          <p:cNvPr id="8" name="Image 0" descr="/tmp/claude-1000/-home-mati-proyectos-INF330-proyecto-BI/de1d8a94-a355-4200-8f20-8d02d543867f/scratchpad/pptxbuild/icons/lightbulb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325880"/>
            <a:ext cx="1371600" cy="1371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2801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0F2A43"/>
          </a:solidFill>
          <a:ln/>
          <a:effectLst>
            <a:outerShdw sx="100000" sy="100000" kx="0" ky="0" algn="bl" rotWithShape="0" blurRad="50800" dist="25400" dir="5400000">
              <a:srgbClr val="0F2A43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61288" y="1682496"/>
            <a:ext cx="6885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entendimiento del negocio y sus reglas fue tan importante como la herramienta tecnológica.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2423160"/>
            <a:ext cx="384048" cy="384048"/>
          </a:xfrm>
          <a:prstGeom prst="ellipse">
            <a:avLst/>
          </a:prstGeom>
          <a:solidFill>
            <a:srgbClr val="1D6F93"/>
          </a:solidFill>
          <a:ln/>
          <a:effectLst>
            <a:outerShdw sx="100000" sy="100000" kx="0" ky="0" algn="bl" rotWithShape="0" blurRad="50800" dist="25400" dir="5400000">
              <a:srgbClr val="0F2A43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48640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61288" y="2368296"/>
            <a:ext cx="68854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validación de calidad de datos fue crítica — se detectaron y corrigieron anomalías reales antes de construir el modelo.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8640" y="3429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(Avance 2)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3886200"/>
            <a:ext cx="53643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EF8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3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417320" y="4050792"/>
            <a:ext cx="4267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 implementación del proceso ETL (Extracción, Transformación y Carga).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278728" y="3886200"/>
            <a:ext cx="53643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EF8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3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507328" y="4114800"/>
            <a:ext cx="457200" cy="457200"/>
          </a:xfrm>
          <a:prstGeom prst="ellipse">
            <a:avLst/>
          </a:prstGeom>
          <a:solidFill>
            <a:srgbClr val="2FA8D8"/>
          </a:solidFill>
          <a:ln/>
        </p:spPr>
      </p:sp>
      <p:sp>
        <p:nvSpPr>
          <p:cNvPr id="23" name="Text 20"/>
          <p:cNvSpPr/>
          <p:nvPr/>
        </p:nvSpPr>
        <p:spPr>
          <a:xfrm>
            <a:off x="6507328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147408" y="4050792"/>
            <a:ext cx="4267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la limitación de Territorio con una tabla puente (bridge table).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6515100"/>
            <a:ext cx="82296" cy="82296"/>
          </a:xfrm>
          <a:prstGeom prst="ellipse">
            <a:avLst/>
          </a:prstGeom>
          <a:solidFill>
            <a:srgbClr val="2FA8D8"/>
          </a:solidFill>
          <a:ln/>
        </p:spPr>
      </p:sp>
      <p:sp>
        <p:nvSpPr>
          <p:cNvPr id="26" name="Text 23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 Foods · Avance 1 — Modelo Dimensional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E7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59775" y="-1737360"/>
            <a:ext cx="5212080" cy="5212080"/>
          </a:xfrm>
          <a:prstGeom prst="ellipse">
            <a:avLst/>
          </a:prstGeom>
          <a:solidFill>
            <a:srgbClr val="BFE4F2">
              <a:alpha val="5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-822960"/>
            <a:ext cx="3566160" cy="3566160"/>
          </a:xfrm>
          <a:prstGeom prst="ellipse">
            <a:avLst/>
          </a:prstGeom>
          <a:solidFill>
            <a:srgbClr val="1D6F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00055" y="137160"/>
            <a:ext cx="1783080" cy="1783080"/>
          </a:xfrm>
          <a:prstGeom prst="ellipse">
            <a:avLst/>
          </a:prstGeom>
          <a:solidFill>
            <a:srgbClr val="2FA8D8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59975" y="-502920"/>
            <a:ext cx="3246120" cy="3246120"/>
          </a:xfrm>
          <a:prstGeom prst="ellipse">
            <a:avLst/>
          </a:prstGeom>
          <a:ln w="25400">
            <a:solidFill>
              <a:srgbClr val="2FA8D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05695" y="4709160"/>
            <a:ext cx="2834640" cy="2834640"/>
          </a:xfrm>
          <a:prstGeom prst="ellipse">
            <a:avLst/>
          </a:prstGeom>
          <a:solidFill>
            <a:srgbClr val="BFE4F2">
              <a:alpha val="5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74375" y="5577840"/>
            <a:ext cx="1463040" cy="1463040"/>
          </a:xfrm>
          <a:prstGeom prst="ellipse">
            <a:avLst/>
          </a:prstGeom>
          <a:solidFill>
            <a:srgbClr val="2FA8D8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-1188720" y="5257800"/>
            <a:ext cx="2286000" cy="2286000"/>
          </a:xfrm>
          <a:prstGeom prst="ellipse">
            <a:avLst/>
          </a:prstGeom>
          <a:solidFill>
            <a:srgbClr val="BFE4F2">
              <a:alpha val="5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-502920" y="5943600"/>
            <a:ext cx="1188720" cy="1188720"/>
          </a:xfrm>
          <a:prstGeom prst="ellipse">
            <a:avLst/>
          </a:prstGeom>
          <a:solidFill>
            <a:srgbClr val="2FA8D8">
              <a:alpha val="6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488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su atención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7 — Matías Fernández · Renato Martínez · Iván Bustos · Matías Lara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2FA8D8"/>
          </a:solidFill>
          <a:ln/>
          <a:effectLst>
            <a:outerShdw sx="100000" sy="100000" kx="0" ky="0" algn="bl" rotWithShape="0" blurRad="63500" dist="25400" dir="5400000">
              <a:srgbClr val="0F2A43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4526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Dimensiones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633472" y="452628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0F2A43"/>
          </a:solidFill>
          <a:ln/>
          <a:effectLst>
            <a:outerShdw sx="100000" sy="100000" kx="0" ky="0" algn="bl" rotWithShape="0" blurRad="63500" dist="25400" dir="5400000">
              <a:srgbClr val="0F2A43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33472" y="45262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261104" y="4526280"/>
            <a:ext cx="2834640" cy="502920"/>
          </a:xfrm>
          <a:prstGeom prst="roundRect">
            <a:avLst>
              <a:gd name="adj" fmla="val 50000"/>
            </a:avLst>
          </a:prstGeom>
          <a:solidFill>
            <a:srgbClr val="1D6F93"/>
          </a:solidFill>
          <a:ln/>
          <a:effectLst>
            <a:outerShdw sx="100000" sy="100000" kx="0" ky="0" algn="bl" rotWithShape="0" blurRad="63500" dist="25400" dir="5400000">
              <a:srgbClr val="0F2A43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61104" y="45262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$1.265.793 verificados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Kent Foods — Avance 1: Modelo Dimensional</dc:title>
  <dc:subject>PptxGenJS Presentation</dc:subject>
  <dc:creator>Grupo 7 — INF330</dc:creator>
  <cp:lastModifiedBy>Grupo 7 — INF330</cp:lastModifiedBy>
  <cp:revision>1</cp:revision>
  <dcterms:created xsi:type="dcterms:W3CDTF">2026-09-01T17:05:56Z</dcterms:created>
  <dcterms:modified xsi:type="dcterms:W3CDTF">2026-09-01T17:05:56Z</dcterms:modified>
</cp:coreProperties>
</file>